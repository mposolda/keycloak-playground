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FC7B7B-C61D-4A3A-A29C-8EFCD01DAF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35FC54-910E-4768-899F-8DE7088714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2216B52-0C3A-4621-B967-B3D851E6C6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763D6BD-A407-4EC5-8B45-DC259F36D6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17B1514-FBDF-4A05-8699-58AA51257E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A8FA3D6-F370-4566-8827-922C2F05D9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1FAB0D9-107B-4562-A240-11E4AB473E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E010C9E-28C5-4A8D-A385-03667FB006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334F725-7EDE-4A8E-9C54-A70349AEA2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522CCBF-ED25-42E1-9205-5C9DCCACFE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38F9905-2A27-4085-8EBA-55028EEBDD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30A4D7-6A95-413F-A485-C92BCF1860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8EDF69-9F44-405A-B9A5-8CED665F422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1A9B97-7B36-480C-8188-3A66CDC98DB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87D4CB-0889-4885-92B0-9A93DA128F5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to 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4DE1B1-4CFA-4241-B4F6-33216E9111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47BD91-9FF0-4730-8C15-81904B7542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A04118-3C5B-48AF-BD52-D091ECC902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9466C4-EDB2-4658-87CF-F50D3889E34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7E40A0-4721-40C4-8649-CABCED7999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8525DC-0C97-49F8-9690-77238167C1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C5B918-6E6F-4F8E-8B1F-AD4CE409256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48640" y="914400"/>
            <a:ext cx="109724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1f2328"/>
                </a:solidFill>
                <a:latin typeface="Calibri"/>
              </a:rPr>
              <a:t>Credential Proofs &amp; Attestations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548640" y="1737360"/>
            <a:ext cx="9143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7606a"/>
                </a:solidFill>
                <a:latin typeface="Calibri"/>
              </a:rPr>
              <a:t>OID4VCI  ·  SD-JWT VC  ·  Key Binding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548640" y="2212920"/>
            <a:ext cx="639720" cy="3780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48640" y="2331720"/>
            <a:ext cx="110638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</a:rPr>
              <a:t>This deck walks through three progressive levels of proof assurance when issuing a Verifiable Credential (VC) over the OID4VCI protocol using the SD-JWT VC format: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548640" y="2971800"/>
            <a:ext cx="3565800" cy="2422800"/>
          </a:xfrm>
          <a:prstGeom prst="rect">
            <a:avLst/>
          </a:prstGeom>
          <a:solidFill>
            <a:srgbClr val="fee2e2"/>
          </a:solidFill>
          <a:ln w="19050">
            <a:solidFill>
              <a:srgbClr val="991b1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58440" y="3063240"/>
            <a:ext cx="334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91b1b"/>
                </a:solidFill>
                <a:latin typeface="Calibri"/>
              </a:rPr>
              <a:t>Part 1 — No Proof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658440" y="3337560"/>
            <a:ext cx="334620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Credential request carries no proof. Issuer cannot bind the credential to a key. Verifier has no holder binding to verify.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4480560" y="2971800"/>
            <a:ext cx="3565800" cy="242280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4590360" y="3063240"/>
            <a:ext cx="334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Part 2 — JWT Proof (no attestation)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4590360" y="3337560"/>
            <a:ext cx="33462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Wallet generates a key pair and proves possession in the credential request. Issuer binds the credential to that key. Verifier can verify holder binding.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12"/>
          <p:cNvSpPr/>
          <p:nvPr/>
        </p:nvSpPr>
        <p:spPr>
          <a:xfrm>
            <a:off x="8412480" y="2971800"/>
            <a:ext cx="3565800" cy="2422800"/>
          </a:xfrm>
          <a:prstGeom prst="rect">
            <a:avLst/>
          </a:prstGeom>
          <a:solidFill>
            <a:srgbClr val="ede9fe"/>
          </a:solidFill>
          <a:ln w="19050">
            <a:solidFill>
              <a:srgbClr val="5b21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8522280" y="3063240"/>
            <a:ext cx="334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5b21b6"/>
                </a:solidFill>
                <a:latin typeface="Calibri"/>
              </a:rPr>
              <a:t>Part 3 — Attested Proof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8522280" y="3337560"/>
            <a:ext cx="334620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An Attester (trusted third party) countersigns the proof key, giving the Issuer assurance that the key lives in a trusted device or environment. Issuer validates both the proof and the attestation before issuing.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10881360" y="6583680"/>
            <a:ext cx="1188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7606a"/>
                </a:solidFill>
                <a:latin typeface="Calibri"/>
              </a:rPr>
              <a:t>Slide 1 / 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365760" y="91440"/>
            <a:ext cx="2742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7606a"/>
                </a:solidFill>
                <a:latin typeface="Calibri"/>
              </a:rPr>
              <a:t>Slide 2 / 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365760" y="347400"/>
            <a:ext cx="11429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f2328"/>
                </a:solidFill>
                <a:latin typeface="Calibri"/>
              </a:rPr>
              <a:t>Parties Involved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Picture 4" descr="image.png"/>
          <p:cNvPicPr/>
          <p:nvPr/>
        </p:nvPicPr>
        <p:blipFill>
          <a:blip r:embed="rId1"/>
          <a:stretch/>
        </p:blipFill>
        <p:spPr>
          <a:xfrm>
            <a:off x="365760" y="1005840"/>
            <a:ext cx="11429640" cy="3759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365760" y="91440"/>
            <a:ext cx="2742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7606a"/>
                </a:solidFill>
                <a:latin typeface="Calibri"/>
              </a:rPr>
              <a:t>Slide 3 / 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365760" y="347400"/>
            <a:ext cx="11429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f2328"/>
                </a:solidFill>
                <a:latin typeface="Calibri"/>
              </a:rPr>
              <a:t>SD-JWT VC Structure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365760" y="1005840"/>
            <a:ext cx="1142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1f2328"/>
                </a:solidFill>
                <a:latin typeface="Calibri"/>
              </a:rPr>
              <a:t>An SD-JWT Verifiable Credential is a compact string of the form: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1f2328"/>
                </a:solidFill>
                <a:latin typeface="Calibri"/>
              </a:rPr>
              <a:t>&lt;Issuer-signed JWT&gt;  ~  &lt;Disclosure 1&gt;  ~  &lt;Disclosure 2&gt;  ~  ...  ~  [&lt;Key-Binding JWT&gt;]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365760" y="1664280"/>
            <a:ext cx="11429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7606a"/>
                </a:solidFill>
                <a:latin typeface="Calibri"/>
              </a:rPr>
              <a:t>The trailing ~ (no key-binding) or the optional Key-Binding JWT distinguishes presentations with and without holder binding.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6"/>
          <p:cNvSpPr/>
          <p:nvPr/>
        </p:nvSpPr>
        <p:spPr>
          <a:xfrm>
            <a:off x="365760" y="2176200"/>
            <a:ext cx="182844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7"/>
          <p:cNvSpPr/>
          <p:nvPr/>
        </p:nvSpPr>
        <p:spPr>
          <a:xfrm>
            <a:off x="429120" y="2226960"/>
            <a:ext cx="1701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Part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8"/>
          <p:cNvSpPr/>
          <p:nvPr/>
        </p:nvSpPr>
        <p:spPr>
          <a:xfrm>
            <a:off x="2194560" y="2176200"/>
            <a:ext cx="384012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9"/>
          <p:cNvSpPr/>
          <p:nvPr/>
        </p:nvSpPr>
        <p:spPr>
          <a:xfrm>
            <a:off x="2257920" y="2226960"/>
            <a:ext cx="3713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Content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 10"/>
          <p:cNvSpPr/>
          <p:nvPr/>
        </p:nvSpPr>
        <p:spPr>
          <a:xfrm>
            <a:off x="6035040" y="2176200"/>
            <a:ext cx="219420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11"/>
          <p:cNvSpPr/>
          <p:nvPr/>
        </p:nvSpPr>
        <p:spPr>
          <a:xfrm>
            <a:off x="6098400" y="2226960"/>
            <a:ext cx="2067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Signed by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12"/>
          <p:cNvSpPr/>
          <p:nvPr/>
        </p:nvSpPr>
        <p:spPr>
          <a:xfrm>
            <a:off x="8229600" y="2176200"/>
            <a:ext cx="356580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13"/>
          <p:cNvSpPr/>
          <p:nvPr/>
        </p:nvSpPr>
        <p:spPr>
          <a:xfrm>
            <a:off x="8292960" y="2226960"/>
            <a:ext cx="3438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Purpose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14"/>
          <p:cNvSpPr/>
          <p:nvPr/>
        </p:nvSpPr>
        <p:spPr>
          <a:xfrm>
            <a:off x="365760" y="2481120"/>
            <a:ext cx="1828440" cy="609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5"/>
          <p:cNvSpPr/>
          <p:nvPr/>
        </p:nvSpPr>
        <p:spPr>
          <a:xfrm>
            <a:off x="429120" y="2531880"/>
            <a:ext cx="1701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Issuer-signed JWT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16"/>
          <p:cNvSpPr/>
          <p:nvPr/>
        </p:nvSpPr>
        <p:spPr>
          <a:xfrm>
            <a:off x="2194560" y="2481120"/>
            <a:ext cx="3840120" cy="609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17"/>
          <p:cNvSpPr/>
          <p:nvPr/>
        </p:nvSpPr>
        <p:spPr>
          <a:xfrm>
            <a:off x="2257920" y="2531880"/>
            <a:ext cx="3713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Header · Payload · Signature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iss, sub, vct, iat, exp, _sd (digests), cnf (key binding)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18"/>
          <p:cNvSpPr/>
          <p:nvPr/>
        </p:nvSpPr>
        <p:spPr>
          <a:xfrm>
            <a:off x="6035040" y="2481120"/>
            <a:ext cx="2194200" cy="609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19"/>
          <p:cNvSpPr/>
          <p:nvPr/>
        </p:nvSpPr>
        <p:spPr>
          <a:xfrm>
            <a:off x="6098400" y="2531880"/>
            <a:ext cx="2067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Issuer (Keycloak)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20"/>
          <p:cNvSpPr/>
          <p:nvPr/>
        </p:nvSpPr>
        <p:spPr>
          <a:xfrm>
            <a:off x="8229600" y="2481120"/>
            <a:ext cx="3565800" cy="609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1"/>
          <p:cNvSpPr/>
          <p:nvPr/>
        </p:nvSpPr>
        <p:spPr>
          <a:xfrm>
            <a:off x="8292960" y="2531880"/>
            <a:ext cx="34387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Credential authenticity; binds public key of holder when cnf present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22"/>
          <p:cNvSpPr/>
          <p:nvPr/>
        </p:nvSpPr>
        <p:spPr>
          <a:xfrm>
            <a:off x="365760" y="3090600"/>
            <a:ext cx="1828440" cy="6091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3"/>
          <p:cNvSpPr/>
          <p:nvPr/>
        </p:nvSpPr>
        <p:spPr>
          <a:xfrm>
            <a:off x="429120" y="3141360"/>
            <a:ext cx="1701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Disclosures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24"/>
          <p:cNvSpPr/>
          <p:nvPr/>
        </p:nvSpPr>
        <p:spPr>
          <a:xfrm>
            <a:off x="2194560" y="3090600"/>
            <a:ext cx="3840120" cy="6091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5"/>
          <p:cNvSpPr/>
          <p:nvPr/>
        </p:nvSpPr>
        <p:spPr>
          <a:xfrm>
            <a:off x="2257920" y="3141360"/>
            <a:ext cx="3713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Base64url-encoded JSON arrays: [salt, claim_name, claim_value]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26"/>
          <p:cNvSpPr/>
          <p:nvPr/>
        </p:nvSpPr>
        <p:spPr>
          <a:xfrm>
            <a:off x="6035040" y="3090600"/>
            <a:ext cx="2194200" cy="6091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27"/>
          <p:cNvSpPr/>
          <p:nvPr/>
        </p:nvSpPr>
        <p:spPr>
          <a:xfrm>
            <a:off x="6098400" y="3141360"/>
            <a:ext cx="2067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N/A (integrity by digest in JWT)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28"/>
          <p:cNvSpPr/>
          <p:nvPr/>
        </p:nvSpPr>
        <p:spPr>
          <a:xfrm>
            <a:off x="8229600" y="3090600"/>
            <a:ext cx="3565800" cy="6091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9"/>
          <p:cNvSpPr/>
          <p:nvPr/>
        </p:nvSpPr>
        <p:spPr>
          <a:xfrm>
            <a:off x="8292960" y="3141360"/>
            <a:ext cx="3438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Selective disclosure — holder chooses which to reveal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30"/>
          <p:cNvSpPr/>
          <p:nvPr/>
        </p:nvSpPr>
        <p:spPr>
          <a:xfrm>
            <a:off x="365760" y="3700440"/>
            <a:ext cx="1828440" cy="609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31"/>
          <p:cNvSpPr/>
          <p:nvPr/>
        </p:nvSpPr>
        <p:spPr>
          <a:xfrm>
            <a:off x="429120" y="3751200"/>
            <a:ext cx="1701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Key-Binding JWT (optional)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32"/>
          <p:cNvSpPr/>
          <p:nvPr/>
        </p:nvSpPr>
        <p:spPr>
          <a:xfrm>
            <a:off x="2194560" y="3700440"/>
            <a:ext cx="3840120" cy="609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33"/>
          <p:cNvSpPr/>
          <p:nvPr/>
        </p:nvSpPr>
        <p:spPr>
          <a:xfrm>
            <a:off x="2257920" y="3751200"/>
            <a:ext cx="3713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Header (typ: kb+jwt) · Payload: nonce, aud, iat, sd_hash · Signature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34"/>
          <p:cNvSpPr/>
          <p:nvPr/>
        </p:nvSpPr>
        <p:spPr>
          <a:xfrm>
            <a:off x="6035040" y="3700440"/>
            <a:ext cx="2194200" cy="609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35"/>
          <p:cNvSpPr/>
          <p:nvPr/>
        </p:nvSpPr>
        <p:spPr>
          <a:xfrm>
            <a:off x="6098400" y="3751200"/>
            <a:ext cx="2067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Holder / Wallet (proof key)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36"/>
          <p:cNvSpPr/>
          <p:nvPr/>
        </p:nvSpPr>
        <p:spPr>
          <a:xfrm>
            <a:off x="8229600" y="3700440"/>
            <a:ext cx="3565800" cy="609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37"/>
          <p:cNvSpPr/>
          <p:nvPr/>
        </p:nvSpPr>
        <p:spPr>
          <a:xfrm>
            <a:off x="8292960" y="3751200"/>
            <a:ext cx="34387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Proves the presenter holds the private key matching cnf in the VC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Picture 38" descr="image.png"/>
          <p:cNvPicPr/>
          <p:nvPr/>
        </p:nvPicPr>
        <p:blipFill>
          <a:blip r:embed="rId1"/>
          <a:stretch/>
        </p:blipFill>
        <p:spPr>
          <a:xfrm>
            <a:off x="2472480" y="4411440"/>
            <a:ext cx="7216200" cy="1234080"/>
          </a:xfrm>
          <a:prstGeom prst="rect">
            <a:avLst/>
          </a:prstGeom>
          <a:ln w="0">
            <a:noFill/>
          </a:ln>
        </p:spPr>
      </p:pic>
      <p:sp>
        <p:nvSpPr>
          <p:cNvPr id="124" name="Rectangle 39"/>
          <p:cNvSpPr/>
          <p:nvPr/>
        </p:nvSpPr>
        <p:spPr>
          <a:xfrm>
            <a:off x="365760" y="5722200"/>
            <a:ext cx="11429640" cy="502560"/>
          </a:xfrm>
          <a:prstGeom prst="rect">
            <a:avLst/>
          </a:prstGeom>
          <a:solidFill>
            <a:srgbClr val="ecfdf5"/>
          </a:solidFill>
          <a:ln w="317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40"/>
          <p:cNvSpPr/>
          <p:nvPr/>
        </p:nvSpPr>
        <p:spPr>
          <a:xfrm>
            <a:off x="502920" y="5798160"/>
            <a:ext cx="111553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Key insight: the cnf claim in the Issuer-signed JWT makes a credential key-bound. Without it (Part 1), no holder-binding is possible regardless of what the wallet does at presentation time.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365760" y="91440"/>
            <a:ext cx="2742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7606a"/>
                </a:solidFill>
                <a:latin typeface="Calibri"/>
              </a:rPr>
              <a:t>Slide 4 / 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365760" y="347400"/>
            <a:ext cx="11429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f2328"/>
                </a:solidFill>
                <a:latin typeface="Calibri"/>
              </a:rPr>
              <a:t>Credential Request Structure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365760" y="100584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</a:rPr>
              <a:t>Sent by the Wallet to the Issuer's credential endpoint after obtaining an access token (OID4VCI spec §8).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 5"/>
          <p:cNvSpPr/>
          <p:nvPr/>
        </p:nvSpPr>
        <p:spPr>
          <a:xfrm>
            <a:off x="365760" y="1389960"/>
            <a:ext cx="201132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429120" y="1440720"/>
            <a:ext cx="1884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Field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7"/>
          <p:cNvSpPr/>
          <p:nvPr/>
        </p:nvSpPr>
        <p:spPr>
          <a:xfrm>
            <a:off x="2377440" y="1389960"/>
            <a:ext cx="493740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2440800" y="1440720"/>
            <a:ext cx="481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Description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 9"/>
          <p:cNvSpPr/>
          <p:nvPr/>
        </p:nvSpPr>
        <p:spPr>
          <a:xfrm>
            <a:off x="7315200" y="1389960"/>
            <a:ext cx="118836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7378560" y="1440720"/>
            <a:ext cx="106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Part 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11"/>
          <p:cNvSpPr/>
          <p:nvPr/>
        </p:nvSpPr>
        <p:spPr>
          <a:xfrm>
            <a:off x="8503920" y="1389960"/>
            <a:ext cx="118836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12"/>
          <p:cNvSpPr/>
          <p:nvPr/>
        </p:nvSpPr>
        <p:spPr>
          <a:xfrm>
            <a:off x="8567280" y="1440720"/>
            <a:ext cx="106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Part 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 13"/>
          <p:cNvSpPr/>
          <p:nvPr/>
        </p:nvSpPr>
        <p:spPr>
          <a:xfrm>
            <a:off x="9692640" y="1389960"/>
            <a:ext cx="201132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14"/>
          <p:cNvSpPr/>
          <p:nvPr/>
        </p:nvSpPr>
        <p:spPr>
          <a:xfrm>
            <a:off x="9756000" y="1440720"/>
            <a:ext cx="1884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Part 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 15"/>
          <p:cNvSpPr/>
          <p:nvPr/>
        </p:nvSpPr>
        <p:spPr>
          <a:xfrm>
            <a:off x="365760" y="1694520"/>
            <a:ext cx="2011320" cy="583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429120" y="1745640"/>
            <a:ext cx="1884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credential_identifier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17"/>
          <p:cNvSpPr/>
          <p:nvPr/>
        </p:nvSpPr>
        <p:spPr>
          <a:xfrm>
            <a:off x="2377440" y="1694520"/>
            <a:ext cx="4937400" cy="583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18"/>
          <p:cNvSpPr/>
          <p:nvPr/>
        </p:nvSpPr>
        <p:spPr>
          <a:xfrm>
            <a:off x="2440800" y="1745640"/>
            <a:ext cx="48103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Identifier from credential_identifiers array in token response; replaces format + credential_definition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 19"/>
          <p:cNvSpPr/>
          <p:nvPr/>
        </p:nvSpPr>
        <p:spPr>
          <a:xfrm>
            <a:off x="7315200" y="1694520"/>
            <a:ext cx="1188360" cy="583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7378560" y="1745640"/>
            <a:ext cx="106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✓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21"/>
          <p:cNvSpPr/>
          <p:nvPr/>
        </p:nvSpPr>
        <p:spPr>
          <a:xfrm>
            <a:off x="8503920" y="1694520"/>
            <a:ext cx="1188360" cy="583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22"/>
          <p:cNvSpPr/>
          <p:nvPr/>
        </p:nvSpPr>
        <p:spPr>
          <a:xfrm>
            <a:off x="8567280" y="1745640"/>
            <a:ext cx="106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✓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23"/>
          <p:cNvSpPr/>
          <p:nvPr/>
        </p:nvSpPr>
        <p:spPr>
          <a:xfrm>
            <a:off x="9692640" y="1694520"/>
            <a:ext cx="2011320" cy="583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24"/>
          <p:cNvSpPr/>
          <p:nvPr/>
        </p:nvSpPr>
        <p:spPr>
          <a:xfrm>
            <a:off x="9756000" y="1745640"/>
            <a:ext cx="1884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✓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25"/>
          <p:cNvSpPr/>
          <p:nvPr/>
        </p:nvSpPr>
        <p:spPr>
          <a:xfrm>
            <a:off x="365760" y="2278800"/>
            <a:ext cx="2011320" cy="583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26"/>
          <p:cNvSpPr/>
          <p:nvPr/>
        </p:nvSpPr>
        <p:spPr>
          <a:xfrm>
            <a:off x="429120" y="2329560"/>
            <a:ext cx="1884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proofs.jwt[]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27"/>
          <p:cNvSpPr/>
          <p:nvPr/>
        </p:nvSpPr>
        <p:spPr>
          <a:xfrm>
            <a:off x="2377440" y="2278800"/>
            <a:ext cx="4937400" cy="583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28"/>
          <p:cNvSpPr/>
          <p:nvPr/>
        </p:nvSpPr>
        <p:spPr>
          <a:xfrm>
            <a:off x="2440800" y="2329560"/>
            <a:ext cx="481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Array of JWT proof objects (typ openid4vci-proof+jwt)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29"/>
          <p:cNvSpPr/>
          <p:nvPr/>
        </p:nvSpPr>
        <p:spPr>
          <a:xfrm>
            <a:off x="7315200" y="2278800"/>
            <a:ext cx="1188360" cy="583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30"/>
          <p:cNvSpPr/>
          <p:nvPr/>
        </p:nvSpPr>
        <p:spPr>
          <a:xfrm>
            <a:off x="7378560" y="2329560"/>
            <a:ext cx="106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absent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 31"/>
          <p:cNvSpPr/>
          <p:nvPr/>
        </p:nvSpPr>
        <p:spPr>
          <a:xfrm>
            <a:off x="8503920" y="2278800"/>
            <a:ext cx="1188360" cy="583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32"/>
          <p:cNvSpPr/>
          <p:nvPr/>
        </p:nvSpPr>
        <p:spPr>
          <a:xfrm>
            <a:off x="8567280" y="2329560"/>
            <a:ext cx="106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✓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ectangle 33"/>
          <p:cNvSpPr/>
          <p:nvPr/>
        </p:nvSpPr>
        <p:spPr>
          <a:xfrm>
            <a:off x="9692640" y="2278800"/>
            <a:ext cx="2011320" cy="5839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34"/>
          <p:cNvSpPr/>
          <p:nvPr/>
        </p:nvSpPr>
        <p:spPr>
          <a:xfrm>
            <a:off x="9756000" y="2329560"/>
            <a:ext cx="18842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— </a:t>
            </a: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(or with key_attestation header)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 35"/>
          <p:cNvSpPr/>
          <p:nvPr/>
        </p:nvSpPr>
        <p:spPr>
          <a:xfrm>
            <a:off x="365760" y="2863080"/>
            <a:ext cx="2011320" cy="583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36"/>
          <p:cNvSpPr/>
          <p:nvPr/>
        </p:nvSpPr>
        <p:spPr>
          <a:xfrm>
            <a:off x="429120" y="2913840"/>
            <a:ext cx="1884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proofs.attestation[]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 37"/>
          <p:cNvSpPr/>
          <p:nvPr/>
        </p:nvSpPr>
        <p:spPr>
          <a:xfrm>
            <a:off x="2377440" y="2863080"/>
            <a:ext cx="4937400" cy="583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38"/>
          <p:cNvSpPr/>
          <p:nvPr/>
        </p:nvSpPr>
        <p:spPr>
          <a:xfrm>
            <a:off x="2440800" y="2913840"/>
            <a:ext cx="4810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Array of key-attestation proof objects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 39"/>
          <p:cNvSpPr/>
          <p:nvPr/>
        </p:nvSpPr>
        <p:spPr>
          <a:xfrm>
            <a:off x="7315200" y="2863080"/>
            <a:ext cx="1188360" cy="583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40"/>
          <p:cNvSpPr/>
          <p:nvPr/>
        </p:nvSpPr>
        <p:spPr>
          <a:xfrm>
            <a:off x="7378560" y="2913840"/>
            <a:ext cx="106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absent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41"/>
          <p:cNvSpPr/>
          <p:nvPr/>
        </p:nvSpPr>
        <p:spPr>
          <a:xfrm>
            <a:off x="8503920" y="2863080"/>
            <a:ext cx="1188360" cy="583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42"/>
          <p:cNvSpPr/>
          <p:nvPr/>
        </p:nvSpPr>
        <p:spPr>
          <a:xfrm>
            <a:off x="8567280" y="2913840"/>
            <a:ext cx="106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absent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ectangle 43"/>
          <p:cNvSpPr/>
          <p:nvPr/>
        </p:nvSpPr>
        <p:spPr>
          <a:xfrm>
            <a:off x="9692640" y="2863080"/>
            <a:ext cx="2011320" cy="583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44"/>
          <p:cNvSpPr/>
          <p:nvPr/>
        </p:nvSpPr>
        <p:spPr>
          <a:xfrm>
            <a:off x="9756000" y="2913840"/>
            <a:ext cx="1884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✓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45"/>
          <p:cNvSpPr/>
          <p:nvPr/>
        </p:nvSpPr>
        <p:spPr>
          <a:xfrm>
            <a:off x="365760" y="357444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Example – JWT proof (Part 2)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 46"/>
          <p:cNvSpPr/>
          <p:nvPr/>
        </p:nvSpPr>
        <p:spPr>
          <a:xfrm>
            <a:off x="365760" y="3904560"/>
            <a:ext cx="11429640" cy="181044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47"/>
          <p:cNvSpPr/>
          <p:nvPr/>
        </p:nvSpPr>
        <p:spPr>
          <a:xfrm>
            <a:off x="2401920" y="3980520"/>
            <a:ext cx="7302600" cy="16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{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"credential_identifier": "EducationCertificate",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"proofs": {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"jwt": [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      </a:t>
            </a: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"eyJhbGciOiJFUzI1NiIsInR5cCI6Im9wZW5pZDR2Y2ktcHJvb2Yrand0IiwiandrIjp7Li4ufX0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       </a:t>
            </a: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.eyJhdWQiOiJodHRwczovL2lzc3Vlci5leGFtcGxlLmNvbSIsImlhdCI6MTcwMDAwMDAwMCwibm9uY2UiOiJhYmMxMjMifQ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       </a:t>
            </a: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.SIGNATURE"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    </a:t>
            </a: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  </a:t>
            </a: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}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}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2"/>
          <p:cNvSpPr/>
          <p:nvPr/>
        </p:nvSpPr>
        <p:spPr>
          <a:xfrm>
            <a:off x="365760" y="91440"/>
            <a:ext cx="2742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7606a"/>
                </a:solidFill>
                <a:latin typeface="Calibri"/>
              </a:rPr>
              <a:t>Slide 5 / 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365760" y="347400"/>
            <a:ext cx="11429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f2328"/>
                </a:solidFill>
                <a:latin typeface="Calibri"/>
              </a:rPr>
              <a:t>Verifiable Credential Without Proof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 4"/>
          <p:cNvSpPr/>
          <p:nvPr/>
        </p:nvSpPr>
        <p:spPr>
          <a:xfrm>
            <a:off x="365760" y="978480"/>
            <a:ext cx="2102760" cy="25380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384120" y="978480"/>
            <a:ext cx="2066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991b1b"/>
                </a:solidFill>
                <a:latin typeface="Calibri"/>
              </a:rPr>
              <a:t>PART 1 — NO PROOF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Picture 6" descr="image.png"/>
          <p:cNvPicPr/>
          <p:nvPr/>
        </p:nvPicPr>
        <p:blipFill>
          <a:blip r:embed="rId1"/>
          <a:stretch/>
        </p:blipFill>
        <p:spPr>
          <a:xfrm>
            <a:off x="2606040" y="1261800"/>
            <a:ext cx="6949080" cy="2559960"/>
          </a:xfrm>
          <a:prstGeom prst="rect">
            <a:avLst/>
          </a:prstGeom>
          <a:ln w="0">
            <a:noFill/>
          </a:ln>
        </p:spPr>
      </p:pic>
      <p:sp>
        <p:nvSpPr>
          <p:cNvPr id="179" name="Rectangle 7"/>
          <p:cNvSpPr/>
          <p:nvPr/>
        </p:nvSpPr>
        <p:spPr>
          <a:xfrm>
            <a:off x="365760" y="3986640"/>
            <a:ext cx="5486040" cy="2331360"/>
          </a:xfrm>
          <a:prstGeom prst="rect">
            <a:avLst/>
          </a:prstGeom>
          <a:solidFill>
            <a:srgbClr val="f7f8fa"/>
          </a:solidFill>
          <a:ln w="1524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8"/>
          <p:cNvSpPr/>
          <p:nvPr/>
        </p:nvSpPr>
        <p:spPr>
          <a:xfrm>
            <a:off x="475560" y="4075560"/>
            <a:ext cx="5266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What happens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9"/>
          <p:cNvSpPr/>
          <p:nvPr/>
        </p:nvSpPr>
        <p:spPr>
          <a:xfrm>
            <a:off x="502920" y="4406040"/>
            <a:ext cx="521172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Wallet sends credential request without a proofs parameter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Issuer issues the credential but has no key to bind — no cnf claim in SD-JWT payload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Credential is bearer: anyone who holds it can present it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Presentation ends with ~ — no Key-Binding JWT appended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tangle 10"/>
          <p:cNvSpPr/>
          <p:nvPr/>
        </p:nvSpPr>
        <p:spPr>
          <a:xfrm>
            <a:off x="6035040" y="3986640"/>
            <a:ext cx="5760360" cy="1919880"/>
          </a:xfrm>
          <a:prstGeom prst="rect">
            <a:avLst/>
          </a:prstGeom>
          <a:solidFill>
            <a:srgbClr val="f7f8fa"/>
          </a:solidFill>
          <a:ln w="1524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11"/>
          <p:cNvSpPr/>
          <p:nvPr/>
        </p:nvSpPr>
        <p:spPr>
          <a:xfrm>
            <a:off x="6144840" y="4075560"/>
            <a:ext cx="5540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Verifier's 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12"/>
          <p:cNvSpPr/>
          <p:nvPr/>
        </p:nvSpPr>
        <p:spPr>
          <a:xfrm>
            <a:off x="6172200" y="4406040"/>
            <a:ext cx="54860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Verifies Issuer's signature on the SD-JWT  ✓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Checks disclosed claims against digests  ✓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Cannot verify holder key binding — no cnf exists  ✗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Cannot distinguish the presenter from anyone else who stole the credential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ectangle 13"/>
          <p:cNvSpPr/>
          <p:nvPr/>
        </p:nvSpPr>
        <p:spPr>
          <a:xfrm>
            <a:off x="6035040" y="5989320"/>
            <a:ext cx="5760360" cy="420120"/>
          </a:xfrm>
          <a:prstGeom prst="rect">
            <a:avLst/>
          </a:prstGeom>
          <a:solidFill>
            <a:srgbClr val="fff1f2"/>
          </a:solidFill>
          <a:ln w="31750"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14"/>
          <p:cNvSpPr/>
          <p:nvPr/>
        </p:nvSpPr>
        <p:spPr>
          <a:xfrm>
            <a:off x="6172200" y="6065640"/>
            <a:ext cx="5486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Risk: credential can be replayed or transferred to a different party.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365760" y="91440"/>
            <a:ext cx="2742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7606a"/>
                </a:solidFill>
                <a:latin typeface="Calibri"/>
              </a:rPr>
              <a:t>Slide 6 / 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3"/>
          <p:cNvSpPr/>
          <p:nvPr/>
        </p:nvSpPr>
        <p:spPr>
          <a:xfrm>
            <a:off x="365760" y="347400"/>
            <a:ext cx="11429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f2328"/>
                </a:solidFill>
                <a:latin typeface="Calibri"/>
              </a:rPr>
              <a:t>Verifiable Credential with JWT Proof (No Attestation)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 4"/>
          <p:cNvSpPr/>
          <p:nvPr/>
        </p:nvSpPr>
        <p:spPr>
          <a:xfrm>
            <a:off x="365760" y="978480"/>
            <a:ext cx="2102760" cy="2538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384120" y="978480"/>
            <a:ext cx="2066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3b82d4"/>
                </a:solidFill>
                <a:latin typeface="Calibri"/>
              </a:rPr>
              <a:t>PART 2 — JWT PROOF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Picture 6" descr="image.png"/>
          <p:cNvPicPr/>
          <p:nvPr/>
        </p:nvPicPr>
        <p:blipFill>
          <a:blip r:embed="rId1"/>
          <a:stretch/>
        </p:blipFill>
        <p:spPr>
          <a:xfrm>
            <a:off x="2816640" y="1261800"/>
            <a:ext cx="6527880" cy="2834280"/>
          </a:xfrm>
          <a:prstGeom prst="rect">
            <a:avLst/>
          </a:prstGeom>
          <a:ln w="0">
            <a:noFill/>
          </a:ln>
        </p:spPr>
      </p:pic>
      <p:sp>
        <p:nvSpPr>
          <p:cNvPr id="193" name="Rectangle 7"/>
          <p:cNvSpPr/>
          <p:nvPr/>
        </p:nvSpPr>
        <p:spPr>
          <a:xfrm>
            <a:off x="365760" y="4260960"/>
            <a:ext cx="5486040" cy="2422800"/>
          </a:xfrm>
          <a:prstGeom prst="rect">
            <a:avLst/>
          </a:prstGeom>
          <a:solidFill>
            <a:srgbClr val="f7f8fa"/>
          </a:solidFill>
          <a:ln w="1524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8"/>
          <p:cNvSpPr/>
          <p:nvPr/>
        </p:nvSpPr>
        <p:spPr>
          <a:xfrm>
            <a:off x="475560" y="4349880"/>
            <a:ext cx="5266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What happens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9"/>
          <p:cNvSpPr/>
          <p:nvPr/>
        </p:nvSpPr>
        <p:spPr>
          <a:xfrm>
            <a:off x="502920" y="4680360"/>
            <a:ext cx="5211720" cy="14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Wallet generates a key pair before credential request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Wallet fetches c_nonce from Issuer's nonce endpoint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Wallet signs openid4vci-proof+jwt; JWT header carries public proof key inline (jwk)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Issuer validates proof JWT, extracts public key, embeds as cnf.jwk in issued SD-JWT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At presentation, Wallet appends a Key-Binding JWT signed with private proof key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ectangle 10"/>
          <p:cNvSpPr/>
          <p:nvPr/>
        </p:nvSpPr>
        <p:spPr>
          <a:xfrm>
            <a:off x="6035040" y="4260960"/>
            <a:ext cx="5760360" cy="1919880"/>
          </a:xfrm>
          <a:prstGeom prst="rect">
            <a:avLst/>
          </a:prstGeom>
          <a:solidFill>
            <a:srgbClr val="f7f8fa"/>
          </a:solidFill>
          <a:ln w="1524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11"/>
          <p:cNvSpPr/>
          <p:nvPr/>
        </p:nvSpPr>
        <p:spPr>
          <a:xfrm>
            <a:off x="6144840" y="4349880"/>
            <a:ext cx="5540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Verifier's 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12"/>
          <p:cNvSpPr/>
          <p:nvPr/>
        </p:nvSpPr>
        <p:spPr>
          <a:xfrm>
            <a:off x="6172200" y="4680360"/>
            <a:ext cx="54860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Verifies Issuer's signature  ✓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Extracts cnf.jwk from SD-JWT payload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Verifies Key-Binding JWT signature against cnf.jwk  ✓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Verifies nonce, aud, and sd_hash in Key-Binding JWT  ✓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13"/>
          <p:cNvSpPr/>
          <p:nvPr/>
        </p:nvSpPr>
        <p:spPr>
          <a:xfrm>
            <a:off x="6035040" y="6263640"/>
            <a:ext cx="5760360" cy="420120"/>
          </a:xfrm>
          <a:prstGeom prst="rect">
            <a:avLst/>
          </a:prstGeom>
          <a:solidFill>
            <a:srgbClr val="ecfdf5"/>
          </a:solidFill>
          <a:ln w="317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14"/>
          <p:cNvSpPr/>
          <p:nvPr/>
        </p:nvSpPr>
        <p:spPr>
          <a:xfrm>
            <a:off x="6172200" y="6339960"/>
            <a:ext cx="54860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Benefit: proof that the presenter is the same entity that obtained the credential. Prevents bearer/replay attacks.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2"/>
          <p:cNvSpPr/>
          <p:nvPr/>
        </p:nvSpPr>
        <p:spPr>
          <a:xfrm>
            <a:off x="365760" y="91440"/>
            <a:ext cx="2742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7606a"/>
                </a:solidFill>
                <a:latin typeface="Calibri"/>
              </a:rPr>
              <a:t>Slide 7 / 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365760" y="347400"/>
            <a:ext cx="11429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f2328"/>
                </a:solidFill>
                <a:latin typeface="Calibri"/>
              </a:rPr>
              <a:t>Verifiable Credential with Attested Proof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ectangle 4"/>
          <p:cNvSpPr/>
          <p:nvPr/>
        </p:nvSpPr>
        <p:spPr>
          <a:xfrm>
            <a:off x="365760" y="978480"/>
            <a:ext cx="2377080" cy="2538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5"/>
          <p:cNvSpPr/>
          <p:nvPr/>
        </p:nvSpPr>
        <p:spPr>
          <a:xfrm>
            <a:off x="384120" y="978480"/>
            <a:ext cx="234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5b21b6"/>
                </a:solidFill>
                <a:latin typeface="Calibri"/>
              </a:rPr>
              <a:t>PART 3 — ATTESTED PROOF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Picture 6" descr="image.png"/>
          <p:cNvPicPr/>
          <p:nvPr/>
        </p:nvPicPr>
        <p:blipFill>
          <a:blip r:embed="rId1"/>
          <a:stretch/>
        </p:blipFill>
        <p:spPr>
          <a:xfrm>
            <a:off x="2981520" y="1261800"/>
            <a:ext cx="6197760" cy="3017160"/>
          </a:xfrm>
          <a:prstGeom prst="rect">
            <a:avLst/>
          </a:prstGeom>
          <a:ln w="0">
            <a:noFill/>
          </a:ln>
        </p:spPr>
      </p:pic>
      <p:sp>
        <p:nvSpPr>
          <p:cNvPr id="207" name="Rectangle 7"/>
          <p:cNvSpPr/>
          <p:nvPr/>
        </p:nvSpPr>
        <p:spPr>
          <a:xfrm>
            <a:off x="365760" y="4462200"/>
            <a:ext cx="5577480" cy="2285640"/>
          </a:xfrm>
          <a:prstGeom prst="rect">
            <a:avLst/>
          </a:prstGeom>
          <a:solidFill>
            <a:srgbClr val="f7f8fa"/>
          </a:solidFill>
          <a:ln w="1524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8"/>
          <p:cNvSpPr/>
          <p:nvPr/>
        </p:nvSpPr>
        <p:spPr>
          <a:xfrm>
            <a:off x="475560" y="4551120"/>
            <a:ext cx="5357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What happens (extra steps vs Part 2)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9"/>
          <p:cNvSpPr/>
          <p:nvPr/>
        </p:nvSpPr>
        <p:spPr>
          <a:xfrm>
            <a:off x="502920" y="4881240"/>
            <a:ext cx="5303160" cy="12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Wallet sends its public proof key to the Attester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Attester checks the key is in a trusted environment (e.g. hardware-backed); issues key-attestation JWT signed by attestation private key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Wallet embeds key-attestation JWT in credential-request proof (proofs.attestation or key_attestation header on proof JWT)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Issuer verifies both the proof JWT and the attestation JWT against Attester's public key (registered in Trusted Key IDP)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ectangle 10"/>
          <p:cNvSpPr/>
          <p:nvPr/>
        </p:nvSpPr>
        <p:spPr>
          <a:xfrm>
            <a:off x="6126480" y="4462200"/>
            <a:ext cx="5668920" cy="2285640"/>
          </a:xfrm>
          <a:prstGeom prst="rect">
            <a:avLst/>
          </a:prstGeom>
          <a:solidFill>
            <a:srgbClr val="f7f8fa"/>
          </a:solidFill>
          <a:ln w="1524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11"/>
          <p:cNvSpPr/>
          <p:nvPr/>
        </p:nvSpPr>
        <p:spPr>
          <a:xfrm>
            <a:off x="6236280" y="4551120"/>
            <a:ext cx="5449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Keycloak configuration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12"/>
          <p:cNvSpPr/>
          <p:nvPr/>
        </p:nvSpPr>
        <p:spPr>
          <a:xfrm>
            <a:off x="6263640" y="4881240"/>
            <a:ext cx="5394600" cy="12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Generate attestation key pair in fapi-playground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Create a Trusted Key IDP in Keycloak admin console; paste the attestation public JWKS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Link the Trusted Key IDP to the OIDC client under OpenID for Verifiable Credentials → Trusted Key providers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Enable Cryptographic binding required on the credential client scope; add attestation to Supported proof types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365760" y="91440"/>
            <a:ext cx="2742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7606a"/>
                </a:solidFill>
                <a:latin typeface="Calibri"/>
              </a:rPr>
              <a:t>Slide 8 / 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365760" y="347400"/>
            <a:ext cx="11429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f2328"/>
                </a:solidFill>
                <a:latin typeface="Calibri"/>
              </a:rPr>
              <a:t>Key-Attestation JWT — Internal Structure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4"/>
          <p:cNvSpPr/>
          <p:nvPr/>
        </p:nvSpPr>
        <p:spPr>
          <a:xfrm>
            <a:off x="365760" y="98748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7606a"/>
                </a:solidFill>
                <a:latin typeface="Calibri"/>
              </a:rPr>
              <a:t>Used in Part 3 to prove the Wallet's proof key resides in a trusted environment.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 5"/>
          <p:cNvSpPr/>
          <p:nvPr/>
        </p:nvSpPr>
        <p:spPr>
          <a:xfrm>
            <a:off x="365760" y="1316880"/>
            <a:ext cx="1645560" cy="3297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6"/>
          <p:cNvSpPr/>
          <p:nvPr/>
        </p:nvSpPr>
        <p:spPr>
          <a:xfrm>
            <a:off x="429120" y="1367640"/>
            <a:ext cx="1518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Section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ectangle 7"/>
          <p:cNvSpPr/>
          <p:nvPr/>
        </p:nvSpPr>
        <p:spPr>
          <a:xfrm>
            <a:off x="2011680" y="1316880"/>
            <a:ext cx="2559960" cy="3297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8"/>
          <p:cNvSpPr/>
          <p:nvPr/>
        </p:nvSpPr>
        <p:spPr>
          <a:xfrm>
            <a:off x="2075040" y="136764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Field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ectangle 9"/>
          <p:cNvSpPr/>
          <p:nvPr/>
        </p:nvSpPr>
        <p:spPr>
          <a:xfrm>
            <a:off x="4572000" y="1316880"/>
            <a:ext cx="7589160" cy="3297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10"/>
          <p:cNvSpPr/>
          <p:nvPr/>
        </p:nvSpPr>
        <p:spPr>
          <a:xfrm>
            <a:off x="4635360" y="1367640"/>
            <a:ext cx="7462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Value / Description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11"/>
          <p:cNvSpPr/>
          <p:nvPr/>
        </p:nvSpPr>
        <p:spPr>
          <a:xfrm>
            <a:off x="365760" y="1647000"/>
            <a:ext cx="1645560" cy="990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TextBox 12"/>
          <p:cNvSpPr/>
          <p:nvPr/>
        </p:nvSpPr>
        <p:spPr>
          <a:xfrm>
            <a:off x="429120" y="1697760"/>
            <a:ext cx="1518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Header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ectangle 13"/>
          <p:cNvSpPr/>
          <p:nvPr/>
        </p:nvSpPr>
        <p:spPr>
          <a:xfrm>
            <a:off x="2011680" y="1647000"/>
            <a:ext cx="2559960" cy="329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14"/>
          <p:cNvSpPr/>
          <p:nvPr/>
        </p:nvSpPr>
        <p:spPr>
          <a:xfrm>
            <a:off x="2075040" y="169776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alg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ectangle 15"/>
          <p:cNvSpPr/>
          <p:nvPr/>
        </p:nvSpPr>
        <p:spPr>
          <a:xfrm>
            <a:off x="4572000" y="1647000"/>
            <a:ext cx="7589160" cy="329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16"/>
          <p:cNvSpPr/>
          <p:nvPr/>
        </p:nvSpPr>
        <p:spPr>
          <a:xfrm>
            <a:off x="4635360" y="1697760"/>
            <a:ext cx="7462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Signing algorithm of attestation key (e.g. ES256)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ectangle 17"/>
          <p:cNvSpPr/>
          <p:nvPr/>
        </p:nvSpPr>
        <p:spPr>
          <a:xfrm>
            <a:off x="2011680" y="1977120"/>
            <a:ext cx="2559960" cy="3297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18"/>
          <p:cNvSpPr/>
          <p:nvPr/>
        </p:nvSpPr>
        <p:spPr>
          <a:xfrm>
            <a:off x="2075040" y="202788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typ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19"/>
          <p:cNvSpPr/>
          <p:nvPr/>
        </p:nvSpPr>
        <p:spPr>
          <a:xfrm>
            <a:off x="4572000" y="1977120"/>
            <a:ext cx="7589160" cy="3297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20"/>
          <p:cNvSpPr/>
          <p:nvPr/>
        </p:nvSpPr>
        <p:spPr>
          <a:xfrm>
            <a:off x="4635360" y="2027880"/>
            <a:ext cx="7462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key-attestation+jwt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ctangle 21"/>
          <p:cNvSpPr/>
          <p:nvPr/>
        </p:nvSpPr>
        <p:spPr>
          <a:xfrm>
            <a:off x="2011680" y="2307240"/>
            <a:ext cx="2559960" cy="329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22"/>
          <p:cNvSpPr/>
          <p:nvPr/>
        </p:nvSpPr>
        <p:spPr>
          <a:xfrm>
            <a:off x="2075040" y="235800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kid (or x5c)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ectangle 23"/>
          <p:cNvSpPr/>
          <p:nvPr/>
        </p:nvSpPr>
        <p:spPr>
          <a:xfrm>
            <a:off x="4572000" y="2307240"/>
            <a:ext cx="7589160" cy="329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24"/>
          <p:cNvSpPr/>
          <p:nvPr/>
        </p:nvSpPr>
        <p:spPr>
          <a:xfrm>
            <a:off x="4635360" y="2358000"/>
            <a:ext cx="7462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Reference to the Public attestation key (so Issuer can look it up in Trusted Key IDP)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ectangle 25"/>
          <p:cNvSpPr/>
          <p:nvPr/>
        </p:nvSpPr>
        <p:spPr>
          <a:xfrm>
            <a:off x="365760" y="2637360"/>
            <a:ext cx="1645560" cy="165060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26"/>
          <p:cNvSpPr/>
          <p:nvPr/>
        </p:nvSpPr>
        <p:spPr>
          <a:xfrm>
            <a:off x="429120" y="2688480"/>
            <a:ext cx="1518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Payload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ectangle 27"/>
          <p:cNvSpPr/>
          <p:nvPr/>
        </p:nvSpPr>
        <p:spPr>
          <a:xfrm>
            <a:off x="2011680" y="2637360"/>
            <a:ext cx="2559960" cy="3297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TextBox 28"/>
          <p:cNvSpPr/>
          <p:nvPr/>
        </p:nvSpPr>
        <p:spPr>
          <a:xfrm>
            <a:off x="2075040" y="268848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iss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29"/>
          <p:cNvSpPr/>
          <p:nvPr/>
        </p:nvSpPr>
        <p:spPr>
          <a:xfrm>
            <a:off x="4572000" y="2637360"/>
            <a:ext cx="7589160" cy="3297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30"/>
          <p:cNvSpPr/>
          <p:nvPr/>
        </p:nvSpPr>
        <p:spPr>
          <a:xfrm>
            <a:off x="4635360" y="2688480"/>
            <a:ext cx="7462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Attester identifier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 31"/>
          <p:cNvSpPr/>
          <p:nvPr/>
        </p:nvSpPr>
        <p:spPr>
          <a:xfrm>
            <a:off x="2011680" y="2967840"/>
            <a:ext cx="2559960" cy="329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32"/>
          <p:cNvSpPr/>
          <p:nvPr/>
        </p:nvSpPr>
        <p:spPr>
          <a:xfrm>
            <a:off x="2075040" y="301860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iat / exp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Rectangle 33"/>
          <p:cNvSpPr/>
          <p:nvPr/>
        </p:nvSpPr>
        <p:spPr>
          <a:xfrm>
            <a:off x="4572000" y="2967840"/>
            <a:ext cx="7589160" cy="329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34"/>
          <p:cNvSpPr/>
          <p:nvPr/>
        </p:nvSpPr>
        <p:spPr>
          <a:xfrm>
            <a:off x="4635360" y="3018600"/>
            <a:ext cx="7462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Issuance / expiry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ectangle 35"/>
          <p:cNvSpPr/>
          <p:nvPr/>
        </p:nvSpPr>
        <p:spPr>
          <a:xfrm>
            <a:off x="2011680" y="3297960"/>
            <a:ext cx="2559960" cy="3297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36"/>
          <p:cNvSpPr/>
          <p:nvPr/>
        </p:nvSpPr>
        <p:spPr>
          <a:xfrm>
            <a:off x="2075040" y="334872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nonce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ectangle 37"/>
          <p:cNvSpPr/>
          <p:nvPr/>
        </p:nvSpPr>
        <p:spPr>
          <a:xfrm>
            <a:off x="4572000" y="3297960"/>
            <a:ext cx="7589160" cy="3297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38"/>
          <p:cNvSpPr/>
          <p:nvPr/>
        </p:nvSpPr>
        <p:spPr>
          <a:xfrm>
            <a:off x="4635360" y="3348720"/>
            <a:ext cx="7462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Freshness nonce from Issuer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ectangle 39"/>
          <p:cNvSpPr/>
          <p:nvPr/>
        </p:nvSpPr>
        <p:spPr>
          <a:xfrm>
            <a:off x="2011680" y="3628080"/>
            <a:ext cx="2559960" cy="329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40"/>
          <p:cNvSpPr/>
          <p:nvPr/>
        </p:nvSpPr>
        <p:spPr>
          <a:xfrm>
            <a:off x="2075040" y="367884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attested_keys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ectangle 41"/>
          <p:cNvSpPr/>
          <p:nvPr/>
        </p:nvSpPr>
        <p:spPr>
          <a:xfrm>
            <a:off x="4572000" y="3628080"/>
            <a:ext cx="7589160" cy="329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42"/>
          <p:cNvSpPr/>
          <p:nvPr/>
        </p:nvSpPr>
        <p:spPr>
          <a:xfrm>
            <a:off x="4635360" y="3678840"/>
            <a:ext cx="7462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Array of JWK objects — the Wallet proof public keys being attested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ectangle 43"/>
          <p:cNvSpPr/>
          <p:nvPr/>
        </p:nvSpPr>
        <p:spPr>
          <a:xfrm>
            <a:off x="2011680" y="3958200"/>
            <a:ext cx="2559960" cy="3297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44"/>
          <p:cNvSpPr/>
          <p:nvPr/>
        </p:nvSpPr>
        <p:spPr>
          <a:xfrm>
            <a:off x="2075040" y="400896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key_storage / user_authentication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ectangle 45"/>
          <p:cNvSpPr/>
          <p:nvPr/>
        </p:nvSpPr>
        <p:spPr>
          <a:xfrm>
            <a:off x="4572000" y="3958200"/>
            <a:ext cx="7589160" cy="3297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46"/>
          <p:cNvSpPr/>
          <p:nvPr/>
        </p:nvSpPr>
        <p:spPr>
          <a:xfrm>
            <a:off x="4635360" y="4008960"/>
            <a:ext cx="7462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For example iso_18045_high — security level of the attester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ctangle 47"/>
          <p:cNvSpPr/>
          <p:nvPr/>
        </p:nvSpPr>
        <p:spPr>
          <a:xfrm>
            <a:off x="365760" y="4288680"/>
            <a:ext cx="1645560" cy="329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" name="TextBox 48"/>
          <p:cNvSpPr/>
          <p:nvPr/>
        </p:nvSpPr>
        <p:spPr>
          <a:xfrm>
            <a:off x="429120" y="4339440"/>
            <a:ext cx="1518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Signature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ectangle 49"/>
          <p:cNvSpPr/>
          <p:nvPr/>
        </p:nvSpPr>
        <p:spPr>
          <a:xfrm>
            <a:off x="2011680" y="4288680"/>
            <a:ext cx="2559960" cy="329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50"/>
          <p:cNvSpPr/>
          <p:nvPr/>
        </p:nvSpPr>
        <p:spPr>
          <a:xfrm>
            <a:off x="2075040" y="4339440"/>
            <a:ext cx="243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ectangle 51"/>
          <p:cNvSpPr/>
          <p:nvPr/>
        </p:nvSpPr>
        <p:spPr>
          <a:xfrm>
            <a:off x="4572000" y="4288680"/>
            <a:ext cx="7589160" cy="3297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52"/>
          <p:cNvSpPr/>
          <p:nvPr/>
        </p:nvSpPr>
        <p:spPr>
          <a:xfrm>
            <a:off x="4635360" y="4339440"/>
            <a:ext cx="7462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Signed by Attester's private attestation key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53"/>
          <p:cNvSpPr/>
          <p:nvPr/>
        </p:nvSpPr>
        <p:spPr>
          <a:xfrm>
            <a:off x="365760" y="4720320"/>
            <a:ext cx="3657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Relationship diagram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6" name="Picture 54" descr="image.png"/>
          <p:cNvPicPr/>
          <p:nvPr/>
        </p:nvPicPr>
        <p:blipFill>
          <a:blip r:embed="rId1"/>
          <a:stretch/>
        </p:blipFill>
        <p:spPr>
          <a:xfrm>
            <a:off x="2029320" y="5025240"/>
            <a:ext cx="8102520" cy="170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1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TextBox 2"/>
          <p:cNvSpPr/>
          <p:nvPr/>
        </p:nvSpPr>
        <p:spPr>
          <a:xfrm>
            <a:off x="365760" y="91440"/>
            <a:ext cx="2742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7606a"/>
                </a:solidFill>
                <a:latin typeface="Calibri"/>
              </a:rPr>
              <a:t>Slide 9 / 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3"/>
          <p:cNvSpPr/>
          <p:nvPr/>
        </p:nvSpPr>
        <p:spPr>
          <a:xfrm>
            <a:off x="365760" y="347400"/>
            <a:ext cx="11429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f2328"/>
                </a:solidFill>
                <a:latin typeface="Calibri"/>
              </a:rPr>
              <a:t>Side-by-Side Comparison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Rectangle 4"/>
          <p:cNvSpPr/>
          <p:nvPr/>
        </p:nvSpPr>
        <p:spPr>
          <a:xfrm>
            <a:off x="365760" y="1005840"/>
            <a:ext cx="320004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TextBox 5"/>
          <p:cNvSpPr/>
          <p:nvPr/>
        </p:nvSpPr>
        <p:spPr>
          <a:xfrm>
            <a:off x="429120" y="1044000"/>
            <a:ext cx="30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2328"/>
                </a:solidFill>
                <a:latin typeface="Calibri"/>
              </a:rPr>
              <a:t>Aspect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Rectangle 6"/>
          <p:cNvSpPr/>
          <p:nvPr/>
        </p:nvSpPr>
        <p:spPr>
          <a:xfrm>
            <a:off x="3566160" y="1005840"/>
            <a:ext cx="255996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7"/>
          <p:cNvSpPr/>
          <p:nvPr/>
        </p:nvSpPr>
        <p:spPr>
          <a:xfrm>
            <a:off x="3629520" y="104400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991b1b"/>
                </a:solidFill>
                <a:latin typeface="Calibri"/>
              </a:rPr>
              <a:t>Part 1 — No Proof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ectangle 8"/>
          <p:cNvSpPr/>
          <p:nvPr/>
        </p:nvSpPr>
        <p:spPr>
          <a:xfrm>
            <a:off x="6126480" y="1005840"/>
            <a:ext cx="274284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TextBox 9"/>
          <p:cNvSpPr/>
          <p:nvPr/>
        </p:nvSpPr>
        <p:spPr>
          <a:xfrm>
            <a:off x="6189840" y="1044000"/>
            <a:ext cx="261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3b82d4"/>
                </a:solidFill>
                <a:latin typeface="Calibri"/>
              </a:rPr>
              <a:t>Part 2 — JWT Proof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ectangle 10"/>
          <p:cNvSpPr/>
          <p:nvPr/>
        </p:nvSpPr>
        <p:spPr>
          <a:xfrm>
            <a:off x="8869680" y="1005840"/>
            <a:ext cx="3291480" cy="304560"/>
          </a:xfrm>
          <a:prstGeom prst="rect">
            <a:avLst/>
          </a:prstGeom>
          <a:solidFill>
            <a:srgbClr val="f7f8fa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11"/>
          <p:cNvSpPr/>
          <p:nvPr/>
        </p:nvSpPr>
        <p:spPr>
          <a:xfrm>
            <a:off x="8933040" y="1044000"/>
            <a:ext cx="316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5b21b6"/>
                </a:solidFill>
                <a:latin typeface="Calibri"/>
              </a:rPr>
              <a:t>Part 3 — Attested Proof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Rectangle 12"/>
          <p:cNvSpPr/>
          <p:nvPr/>
        </p:nvSpPr>
        <p:spPr>
          <a:xfrm>
            <a:off x="365760" y="1310760"/>
            <a:ext cx="32000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13"/>
          <p:cNvSpPr/>
          <p:nvPr/>
        </p:nvSpPr>
        <p:spPr>
          <a:xfrm>
            <a:off x="429120" y="1361520"/>
            <a:ext cx="30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Credential request has proofs?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ectangle 14"/>
          <p:cNvSpPr/>
          <p:nvPr/>
        </p:nvSpPr>
        <p:spPr>
          <a:xfrm>
            <a:off x="3566160" y="1310760"/>
            <a:ext cx="255996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15"/>
          <p:cNvSpPr/>
          <p:nvPr/>
        </p:nvSpPr>
        <p:spPr>
          <a:xfrm>
            <a:off x="3629520" y="136152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No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Rectangle 16"/>
          <p:cNvSpPr/>
          <p:nvPr/>
        </p:nvSpPr>
        <p:spPr>
          <a:xfrm>
            <a:off x="6126480" y="1310760"/>
            <a:ext cx="27428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TextBox 17"/>
          <p:cNvSpPr/>
          <p:nvPr/>
        </p:nvSpPr>
        <p:spPr>
          <a:xfrm>
            <a:off x="6189840" y="1361520"/>
            <a:ext cx="261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Yes – proofs.jwt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Rectangle 18"/>
          <p:cNvSpPr/>
          <p:nvPr/>
        </p:nvSpPr>
        <p:spPr>
          <a:xfrm>
            <a:off x="8869680" y="1310760"/>
            <a:ext cx="329148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TextBox 19"/>
          <p:cNvSpPr/>
          <p:nvPr/>
        </p:nvSpPr>
        <p:spPr>
          <a:xfrm>
            <a:off x="8933040" y="1361520"/>
            <a:ext cx="31644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Yes – proofs.attestation (or jwt + key_attestation header)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ectangle 20"/>
          <p:cNvSpPr/>
          <p:nvPr/>
        </p:nvSpPr>
        <p:spPr>
          <a:xfrm>
            <a:off x="365760" y="1767960"/>
            <a:ext cx="320004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21"/>
          <p:cNvSpPr/>
          <p:nvPr/>
        </p:nvSpPr>
        <p:spPr>
          <a:xfrm>
            <a:off x="429120" y="1818720"/>
            <a:ext cx="30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Proof key generated by Wallet?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ectangle 22"/>
          <p:cNvSpPr/>
          <p:nvPr/>
        </p:nvSpPr>
        <p:spPr>
          <a:xfrm>
            <a:off x="3566160" y="1767960"/>
            <a:ext cx="255996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TextBox 23"/>
          <p:cNvSpPr/>
          <p:nvPr/>
        </p:nvSpPr>
        <p:spPr>
          <a:xfrm>
            <a:off x="3629520" y="181872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No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ectangle 24"/>
          <p:cNvSpPr/>
          <p:nvPr/>
        </p:nvSpPr>
        <p:spPr>
          <a:xfrm>
            <a:off x="6126480" y="1767960"/>
            <a:ext cx="274284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25"/>
          <p:cNvSpPr/>
          <p:nvPr/>
        </p:nvSpPr>
        <p:spPr>
          <a:xfrm>
            <a:off x="6189840" y="1818720"/>
            <a:ext cx="261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Yes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 26"/>
          <p:cNvSpPr/>
          <p:nvPr/>
        </p:nvSpPr>
        <p:spPr>
          <a:xfrm>
            <a:off x="8869680" y="1767960"/>
            <a:ext cx="329148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27"/>
          <p:cNvSpPr/>
          <p:nvPr/>
        </p:nvSpPr>
        <p:spPr>
          <a:xfrm>
            <a:off x="8933040" y="1818720"/>
            <a:ext cx="316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Yes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ectangle 28"/>
          <p:cNvSpPr/>
          <p:nvPr/>
        </p:nvSpPr>
        <p:spPr>
          <a:xfrm>
            <a:off x="365760" y="2225160"/>
            <a:ext cx="32000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TextBox 29"/>
          <p:cNvSpPr/>
          <p:nvPr/>
        </p:nvSpPr>
        <p:spPr>
          <a:xfrm>
            <a:off x="429120" y="2275920"/>
            <a:ext cx="30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Attestation key involved?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ectangle 30"/>
          <p:cNvSpPr/>
          <p:nvPr/>
        </p:nvSpPr>
        <p:spPr>
          <a:xfrm>
            <a:off x="3566160" y="2225160"/>
            <a:ext cx="255996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31"/>
          <p:cNvSpPr/>
          <p:nvPr/>
        </p:nvSpPr>
        <p:spPr>
          <a:xfrm>
            <a:off x="3629520" y="227592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No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 32"/>
          <p:cNvSpPr/>
          <p:nvPr/>
        </p:nvSpPr>
        <p:spPr>
          <a:xfrm>
            <a:off x="6126480" y="2225160"/>
            <a:ext cx="27428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33"/>
          <p:cNvSpPr/>
          <p:nvPr/>
        </p:nvSpPr>
        <p:spPr>
          <a:xfrm>
            <a:off x="6189840" y="2275920"/>
            <a:ext cx="261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No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ectangle 34"/>
          <p:cNvSpPr/>
          <p:nvPr/>
        </p:nvSpPr>
        <p:spPr>
          <a:xfrm>
            <a:off x="8869680" y="2225160"/>
            <a:ext cx="329148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35"/>
          <p:cNvSpPr/>
          <p:nvPr/>
        </p:nvSpPr>
        <p:spPr>
          <a:xfrm>
            <a:off x="8933040" y="2275920"/>
            <a:ext cx="316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Yes (Attester)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Rectangle 36"/>
          <p:cNvSpPr/>
          <p:nvPr/>
        </p:nvSpPr>
        <p:spPr>
          <a:xfrm>
            <a:off x="365760" y="2682360"/>
            <a:ext cx="320004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TextBox 37"/>
          <p:cNvSpPr/>
          <p:nvPr/>
        </p:nvSpPr>
        <p:spPr>
          <a:xfrm>
            <a:off x="429120" y="2733120"/>
            <a:ext cx="30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Issuer validates proof?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Rectangle 38"/>
          <p:cNvSpPr/>
          <p:nvPr/>
        </p:nvSpPr>
        <p:spPr>
          <a:xfrm>
            <a:off x="3566160" y="2682360"/>
            <a:ext cx="255996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TextBox 39"/>
          <p:cNvSpPr/>
          <p:nvPr/>
        </p:nvSpPr>
        <p:spPr>
          <a:xfrm>
            <a:off x="3629520" y="273312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No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Rectangle 40"/>
          <p:cNvSpPr/>
          <p:nvPr/>
        </p:nvSpPr>
        <p:spPr>
          <a:xfrm>
            <a:off x="6126480" y="2682360"/>
            <a:ext cx="274284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41"/>
          <p:cNvSpPr/>
          <p:nvPr/>
        </p:nvSpPr>
        <p:spPr>
          <a:xfrm>
            <a:off x="6189840" y="2733120"/>
            <a:ext cx="261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Yes – verifies JWT sig + c_nonce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ectangle 42"/>
          <p:cNvSpPr/>
          <p:nvPr/>
        </p:nvSpPr>
        <p:spPr>
          <a:xfrm>
            <a:off x="8869680" y="2682360"/>
            <a:ext cx="329148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43"/>
          <p:cNvSpPr/>
          <p:nvPr/>
        </p:nvSpPr>
        <p:spPr>
          <a:xfrm>
            <a:off x="8933040" y="2733120"/>
            <a:ext cx="316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Yes – verifies proof JWT + attestation JWT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ectangle 44"/>
          <p:cNvSpPr/>
          <p:nvPr/>
        </p:nvSpPr>
        <p:spPr>
          <a:xfrm>
            <a:off x="365760" y="3139560"/>
            <a:ext cx="32000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45"/>
          <p:cNvSpPr/>
          <p:nvPr/>
        </p:nvSpPr>
        <p:spPr>
          <a:xfrm>
            <a:off x="429120" y="3190320"/>
            <a:ext cx="30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cnf in issued SD-JWT?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Rectangle 46"/>
          <p:cNvSpPr/>
          <p:nvPr/>
        </p:nvSpPr>
        <p:spPr>
          <a:xfrm>
            <a:off x="3566160" y="3139560"/>
            <a:ext cx="255996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47"/>
          <p:cNvSpPr/>
          <p:nvPr/>
        </p:nvSpPr>
        <p:spPr>
          <a:xfrm>
            <a:off x="3629520" y="319032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No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ectangle 48"/>
          <p:cNvSpPr/>
          <p:nvPr/>
        </p:nvSpPr>
        <p:spPr>
          <a:xfrm>
            <a:off x="6126480" y="3139560"/>
            <a:ext cx="27428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49"/>
          <p:cNvSpPr/>
          <p:nvPr/>
        </p:nvSpPr>
        <p:spPr>
          <a:xfrm>
            <a:off x="6189840" y="3190320"/>
            <a:ext cx="261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Yes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Rectangle 50"/>
          <p:cNvSpPr/>
          <p:nvPr/>
        </p:nvSpPr>
        <p:spPr>
          <a:xfrm>
            <a:off x="8869680" y="3139560"/>
            <a:ext cx="329148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51"/>
          <p:cNvSpPr/>
          <p:nvPr/>
        </p:nvSpPr>
        <p:spPr>
          <a:xfrm>
            <a:off x="8933040" y="3190320"/>
            <a:ext cx="316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Yes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Rectangle 52"/>
          <p:cNvSpPr/>
          <p:nvPr/>
        </p:nvSpPr>
        <p:spPr>
          <a:xfrm>
            <a:off x="365760" y="3596760"/>
            <a:ext cx="320004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TextBox 53"/>
          <p:cNvSpPr/>
          <p:nvPr/>
        </p:nvSpPr>
        <p:spPr>
          <a:xfrm>
            <a:off x="429120" y="3647520"/>
            <a:ext cx="30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Presentation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ectangle 54"/>
          <p:cNvSpPr/>
          <p:nvPr/>
        </p:nvSpPr>
        <p:spPr>
          <a:xfrm>
            <a:off x="3566160" y="3596760"/>
            <a:ext cx="255996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TextBox 55"/>
          <p:cNvSpPr/>
          <p:nvPr/>
        </p:nvSpPr>
        <p:spPr>
          <a:xfrm>
            <a:off x="3629520" y="364752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issuer-jwt ~ disclosures ~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Rectangle 56"/>
          <p:cNvSpPr/>
          <p:nvPr/>
        </p:nvSpPr>
        <p:spPr>
          <a:xfrm>
            <a:off x="6126480" y="3596760"/>
            <a:ext cx="274284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57"/>
          <p:cNvSpPr/>
          <p:nvPr/>
        </p:nvSpPr>
        <p:spPr>
          <a:xfrm>
            <a:off x="6189840" y="3647520"/>
            <a:ext cx="261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issuer-jwt ~ disclosures ~ kb-jwt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ectangle 58"/>
          <p:cNvSpPr/>
          <p:nvPr/>
        </p:nvSpPr>
        <p:spPr>
          <a:xfrm>
            <a:off x="8869680" y="3596760"/>
            <a:ext cx="329148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59"/>
          <p:cNvSpPr/>
          <p:nvPr/>
        </p:nvSpPr>
        <p:spPr>
          <a:xfrm>
            <a:off x="8933040" y="3647520"/>
            <a:ext cx="316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issuer-jwt ~ disclosures ~ kb-jwt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Rectangle 60"/>
          <p:cNvSpPr/>
          <p:nvPr/>
        </p:nvSpPr>
        <p:spPr>
          <a:xfrm>
            <a:off x="365760" y="4053960"/>
            <a:ext cx="32000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TextBox 61"/>
          <p:cNvSpPr/>
          <p:nvPr/>
        </p:nvSpPr>
        <p:spPr>
          <a:xfrm>
            <a:off x="429120" y="4104720"/>
            <a:ext cx="30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Verifier can verify holder binding?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Rectangle 62"/>
          <p:cNvSpPr/>
          <p:nvPr/>
        </p:nvSpPr>
        <p:spPr>
          <a:xfrm>
            <a:off x="3566160" y="4053960"/>
            <a:ext cx="255996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TextBox 63"/>
          <p:cNvSpPr/>
          <p:nvPr/>
        </p:nvSpPr>
        <p:spPr>
          <a:xfrm>
            <a:off x="3629520" y="410472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No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Rectangle 64"/>
          <p:cNvSpPr/>
          <p:nvPr/>
        </p:nvSpPr>
        <p:spPr>
          <a:xfrm>
            <a:off x="6126480" y="4053960"/>
            <a:ext cx="27428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TextBox 65"/>
          <p:cNvSpPr/>
          <p:nvPr/>
        </p:nvSpPr>
        <p:spPr>
          <a:xfrm>
            <a:off x="6189840" y="4104720"/>
            <a:ext cx="261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Yes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Rectangle 66"/>
          <p:cNvSpPr/>
          <p:nvPr/>
        </p:nvSpPr>
        <p:spPr>
          <a:xfrm>
            <a:off x="8869680" y="4053960"/>
            <a:ext cx="329148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67"/>
          <p:cNvSpPr/>
          <p:nvPr/>
        </p:nvSpPr>
        <p:spPr>
          <a:xfrm>
            <a:off x="8933040" y="4104720"/>
            <a:ext cx="316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Yes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Rectangle 68"/>
          <p:cNvSpPr/>
          <p:nvPr/>
        </p:nvSpPr>
        <p:spPr>
          <a:xfrm>
            <a:off x="365760" y="4511160"/>
            <a:ext cx="320004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TextBox 69"/>
          <p:cNvSpPr/>
          <p:nvPr/>
        </p:nvSpPr>
        <p:spPr>
          <a:xfrm>
            <a:off x="429120" y="4561920"/>
            <a:ext cx="30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Verifier sees attestation details?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Rectangle 70"/>
          <p:cNvSpPr/>
          <p:nvPr/>
        </p:nvSpPr>
        <p:spPr>
          <a:xfrm>
            <a:off x="3566160" y="4511160"/>
            <a:ext cx="255996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TextBox 71"/>
          <p:cNvSpPr/>
          <p:nvPr/>
        </p:nvSpPr>
        <p:spPr>
          <a:xfrm>
            <a:off x="3629520" y="456192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No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Rectangle 72"/>
          <p:cNvSpPr/>
          <p:nvPr/>
        </p:nvSpPr>
        <p:spPr>
          <a:xfrm>
            <a:off x="6126480" y="4511160"/>
            <a:ext cx="274284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TextBox 73"/>
          <p:cNvSpPr/>
          <p:nvPr/>
        </p:nvSpPr>
        <p:spPr>
          <a:xfrm>
            <a:off x="6189840" y="4561920"/>
            <a:ext cx="261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No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Rectangle 74"/>
          <p:cNvSpPr/>
          <p:nvPr/>
        </p:nvSpPr>
        <p:spPr>
          <a:xfrm>
            <a:off x="8869680" y="4511160"/>
            <a:ext cx="329148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TextBox 75"/>
          <p:cNvSpPr/>
          <p:nvPr/>
        </p:nvSpPr>
        <p:spPr>
          <a:xfrm>
            <a:off x="8933040" y="4561920"/>
            <a:ext cx="316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No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Rectangle 76"/>
          <p:cNvSpPr/>
          <p:nvPr/>
        </p:nvSpPr>
        <p:spPr>
          <a:xfrm>
            <a:off x="365760" y="4968360"/>
            <a:ext cx="32000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3" name="TextBox 77"/>
          <p:cNvSpPr/>
          <p:nvPr/>
        </p:nvSpPr>
        <p:spPr>
          <a:xfrm>
            <a:off x="429120" y="5019120"/>
            <a:ext cx="30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Security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Rectangle 78"/>
          <p:cNvSpPr/>
          <p:nvPr/>
        </p:nvSpPr>
        <p:spPr>
          <a:xfrm>
            <a:off x="3566160" y="4968360"/>
            <a:ext cx="255996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5" name="TextBox 79"/>
          <p:cNvSpPr/>
          <p:nvPr/>
        </p:nvSpPr>
        <p:spPr>
          <a:xfrm>
            <a:off x="3629520" y="501912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Bearer credential – lowest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Rectangle 80"/>
          <p:cNvSpPr/>
          <p:nvPr/>
        </p:nvSpPr>
        <p:spPr>
          <a:xfrm>
            <a:off x="6126480" y="4968360"/>
            <a:ext cx="274284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TextBox 81"/>
          <p:cNvSpPr/>
          <p:nvPr/>
        </p:nvSpPr>
        <p:spPr>
          <a:xfrm>
            <a:off x="6189840" y="5019120"/>
            <a:ext cx="261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Holder-bound – medium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Rectangle 82"/>
          <p:cNvSpPr/>
          <p:nvPr/>
        </p:nvSpPr>
        <p:spPr>
          <a:xfrm>
            <a:off x="8869680" y="4968360"/>
            <a:ext cx="3291480" cy="4568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TextBox 83"/>
          <p:cNvSpPr/>
          <p:nvPr/>
        </p:nvSpPr>
        <p:spPr>
          <a:xfrm>
            <a:off x="8933040" y="5019120"/>
            <a:ext cx="316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Attested holder-bound – highest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ectangle 84"/>
          <p:cNvSpPr/>
          <p:nvPr/>
        </p:nvSpPr>
        <p:spPr>
          <a:xfrm>
            <a:off x="365760" y="5425560"/>
            <a:ext cx="320004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TextBox 85"/>
          <p:cNvSpPr/>
          <p:nvPr/>
        </p:nvSpPr>
        <p:spPr>
          <a:xfrm>
            <a:off x="429120" y="5476320"/>
            <a:ext cx="3072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Parties involved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Rectangle 86"/>
          <p:cNvSpPr/>
          <p:nvPr/>
        </p:nvSpPr>
        <p:spPr>
          <a:xfrm>
            <a:off x="3566160" y="5425560"/>
            <a:ext cx="255996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3" name="TextBox 87"/>
          <p:cNvSpPr/>
          <p:nvPr/>
        </p:nvSpPr>
        <p:spPr>
          <a:xfrm>
            <a:off x="3629520" y="5476320"/>
            <a:ext cx="2432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Wallet, Issuer, Verifier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Rectangle 88"/>
          <p:cNvSpPr/>
          <p:nvPr/>
        </p:nvSpPr>
        <p:spPr>
          <a:xfrm>
            <a:off x="6126480" y="5425560"/>
            <a:ext cx="274284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TextBox 89"/>
          <p:cNvSpPr/>
          <p:nvPr/>
        </p:nvSpPr>
        <p:spPr>
          <a:xfrm>
            <a:off x="6189840" y="5476320"/>
            <a:ext cx="2615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Wallet, Issuer, Verifier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Rectangle 90"/>
          <p:cNvSpPr/>
          <p:nvPr/>
        </p:nvSpPr>
        <p:spPr>
          <a:xfrm>
            <a:off x="8869680" y="5425560"/>
            <a:ext cx="3291480" cy="45684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TextBox 91"/>
          <p:cNvSpPr/>
          <p:nvPr/>
        </p:nvSpPr>
        <p:spPr>
          <a:xfrm>
            <a:off x="8933040" y="5476320"/>
            <a:ext cx="316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328"/>
                </a:solidFill>
                <a:latin typeface="Calibri"/>
              </a:rPr>
              <a:t>Wallet, Attester, Issuer, Verifier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Rectangle 1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TextBox 2"/>
          <p:cNvSpPr/>
          <p:nvPr/>
        </p:nvSpPr>
        <p:spPr>
          <a:xfrm>
            <a:off x="365760" y="91440"/>
            <a:ext cx="2742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7606a"/>
                </a:solidFill>
                <a:latin typeface="Calibri"/>
              </a:rPr>
              <a:t>Slide 10 / 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3"/>
          <p:cNvSpPr/>
          <p:nvPr/>
        </p:nvSpPr>
        <p:spPr>
          <a:xfrm>
            <a:off x="365760" y="347400"/>
            <a:ext cx="11429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f2328"/>
                </a:solidFill>
                <a:latin typeface="Calibri"/>
              </a:rPr>
              <a:t>Demo Walkthrough — fapi-playground + Keycloak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Rectangle 4"/>
          <p:cNvSpPr/>
          <p:nvPr/>
        </p:nvSpPr>
        <p:spPr>
          <a:xfrm>
            <a:off x="365760" y="1005840"/>
            <a:ext cx="3474360" cy="2239920"/>
          </a:xfrm>
          <a:prstGeom prst="rect">
            <a:avLst/>
          </a:prstGeom>
          <a:solidFill>
            <a:srgbClr val="fee2e2"/>
          </a:solidFill>
          <a:ln w="19050">
            <a:solidFill>
              <a:srgbClr val="991b1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TextBox 5"/>
          <p:cNvSpPr/>
          <p:nvPr/>
        </p:nvSpPr>
        <p:spPr>
          <a:xfrm>
            <a:off x="475560" y="106056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991b1b"/>
                </a:solidFill>
                <a:latin typeface="Calibri"/>
              </a:rPr>
              <a:t>Part 1 — No Proof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6"/>
          <p:cNvSpPr/>
          <p:nvPr/>
        </p:nvSpPr>
        <p:spPr>
          <a:xfrm>
            <a:off x="475560" y="1353240"/>
            <a:ext cx="32000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f2328"/>
                </a:solidFill>
                <a:latin typeface="Calibri"/>
              </a:rPr>
              <a:t>1. Set OID4VCI proof type = none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f2328"/>
                </a:solidFill>
                <a:latin typeface="Calibri"/>
              </a:rPr>
              <a:t>2. Click Credential request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f2328"/>
                </a:solidFill>
                <a:latin typeface="Calibri"/>
              </a:rPr>
              <a:t>3. Observe: proofs absent in request body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f2328"/>
                </a:solidFill>
                <a:latin typeface="Calibri"/>
              </a:rPr>
              <a:t>4. Observe: SD-JWT has no cnf claim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f2328"/>
                </a:solidFill>
                <a:latin typeface="Calibri"/>
              </a:rPr>
              <a:t>5. Presentation ends with ~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Rectangle 7"/>
          <p:cNvSpPr/>
          <p:nvPr/>
        </p:nvSpPr>
        <p:spPr>
          <a:xfrm>
            <a:off x="4114800" y="1005840"/>
            <a:ext cx="3840120" cy="223992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TextBox 8"/>
          <p:cNvSpPr/>
          <p:nvPr/>
        </p:nvSpPr>
        <p:spPr>
          <a:xfrm>
            <a:off x="4224600" y="106056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Part 2 — JWT Proof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Box 9"/>
          <p:cNvSpPr/>
          <p:nvPr/>
        </p:nvSpPr>
        <p:spPr>
          <a:xfrm>
            <a:off x="4224600" y="1353240"/>
            <a:ext cx="356580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f2328"/>
                </a:solidFill>
                <a:latin typeface="Calibri"/>
              </a:rPr>
              <a:t>1. Enable Cryptographic binding required on credential scope; add jwt proof type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f2328"/>
                </a:solidFill>
                <a:latin typeface="Calibri"/>
              </a:rPr>
              <a:t>2. Click Generate proof key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f2328"/>
                </a:solidFill>
                <a:latin typeface="Calibri"/>
              </a:rPr>
              <a:t>3. Set OID4VCI proof type = jwt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f2328"/>
                </a:solidFill>
                <a:latin typeface="Calibri"/>
              </a:rPr>
              <a:t>4. Click Credential request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f2328"/>
                </a:solidFill>
                <a:latin typeface="Calibri"/>
              </a:rPr>
              <a:t>5. Show last verifiable credential — see cnf in payload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1f2328"/>
                </a:solidFill>
                <a:latin typeface="Calibri"/>
              </a:rPr>
              <a:t>6. Create presentation — Key-Binding JWT is appended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Rectangle 10"/>
          <p:cNvSpPr/>
          <p:nvPr/>
        </p:nvSpPr>
        <p:spPr>
          <a:xfrm>
            <a:off x="365760" y="3401640"/>
            <a:ext cx="11429640" cy="3200040"/>
          </a:xfrm>
          <a:prstGeom prst="rect">
            <a:avLst/>
          </a:prstGeom>
          <a:solidFill>
            <a:srgbClr val="ede9fe"/>
          </a:solidFill>
          <a:ln w="19050">
            <a:solidFill>
              <a:srgbClr val="5b21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8" name="TextBox 11"/>
          <p:cNvSpPr/>
          <p:nvPr/>
        </p:nvSpPr>
        <p:spPr>
          <a:xfrm>
            <a:off x="475560" y="3474720"/>
            <a:ext cx="10972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5b21b6"/>
                </a:solidFill>
                <a:latin typeface="Calibri"/>
              </a:rPr>
              <a:t>Part 3 — Attested Proof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Box 12"/>
          <p:cNvSpPr/>
          <p:nvPr/>
        </p:nvSpPr>
        <p:spPr>
          <a:xfrm>
            <a:off x="475560" y="3767400"/>
            <a:ext cx="11063880" cy="14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1. Complete Part 2 setup (proof key + jwt in Supported proof types)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2. Also add attestation to Supported proof types on credential scope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3. Click Generate attestation key — copy JWKS shown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4. In Keycloak admin: Identity Providers → create Trusted Key IDP, paste JWKS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5. On OIDC client → Advanced → OpenID for Verifiable Credentials → Trusted Key providers → add IDP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6. Set OID4VCI proof type = attestation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7. Click Credential request — observe proofs.attestation in request body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8. SD-JWT still carries cnf; Verifier sees identical holder binding as in Part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Rectangle 1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3b82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1" name="TextBox 2"/>
          <p:cNvSpPr/>
          <p:nvPr/>
        </p:nvSpPr>
        <p:spPr>
          <a:xfrm>
            <a:off x="365760" y="91440"/>
            <a:ext cx="2742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7606a"/>
                </a:solidFill>
                <a:latin typeface="Calibri"/>
              </a:rPr>
              <a:t>Slide 11 / 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Box 3"/>
          <p:cNvSpPr/>
          <p:nvPr/>
        </p:nvSpPr>
        <p:spPr>
          <a:xfrm>
            <a:off x="365760" y="347400"/>
            <a:ext cx="11429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f2328"/>
                </a:solidFill>
                <a:latin typeface="Calibri"/>
              </a:rPr>
              <a:t>Key Takeaways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Rectangle 4"/>
          <p:cNvSpPr/>
          <p:nvPr/>
        </p:nvSpPr>
        <p:spPr>
          <a:xfrm>
            <a:off x="365760" y="1005840"/>
            <a:ext cx="5486040" cy="1737000"/>
          </a:xfrm>
          <a:prstGeom prst="rect">
            <a:avLst/>
          </a:prstGeom>
          <a:solidFill>
            <a:srgbClr val="f7f8fa"/>
          </a:solidFill>
          <a:ln w="1524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4" name="TextBox 5"/>
          <p:cNvSpPr/>
          <p:nvPr/>
        </p:nvSpPr>
        <p:spPr>
          <a:xfrm>
            <a:off x="475560" y="1094760"/>
            <a:ext cx="5266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Proof serves two purposes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Box 6"/>
          <p:cNvSpPr/>
          <p:nvPr/>
        </p:nvSpPr>
        <p:spPr>
          <a:xfrm>
            <a:off x="502920" y="1424880"/>
            <a:ext cx="52117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Anti-replay: the c_nonce in the proof prevents a captured credential request from being replayed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Key binding: the public proof key embedded in the SD-JWT ties the credential to the Wallet's key pair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Rectangle 7"/>
          <p:cNvSpPr/>
          <p:nvPr/>
        </p:nvSpPr>
        <p:spPr>
          <a:xfrm>
            <a:off x="365760" y="2853000"/>
            <a:ext cx="5486040" cy="1737000"/>
          </a:xfrm>
          <a:prstGeom prst="rect">
            <a:avLst/>
          </a:prstGeom>
          <a:solidFill>
            <a:srgbClr val="f7f8fa"/>
          </a:solidFill>
          <a:ln w="1524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8"/>
          <p:cNvSpPr/>
          <p:nvPr/>
        </p:nvSpPr>
        <p:spPr>
          <a:xfrm>
            <a:off x="475560" y="2941920"/>
            <a:ext cx="5266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Attestation adds a third guarantee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9"/>
          <p:cNvSpPr/>
          <p:nvPr/>
        </p:nvSpPr>
        <p:spPr>
          <a:xfrm>
            <a:off x="502920" y="3272040"/>
            <a:ext cx="52117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The Attester vouches that the proof key lives in a trusted environment (e.g. hardware secure element)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This is issuance-time assurance — not visible in the issued SD-JWT unless the Issuer explicitly adds claims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Rectangle 10"/>
          <p:cNvSpPr/>
          <p:nvPr/>
        </p:nvSpPr>
        <p:spPr>
          <a:xfrm>
            <a:off x="6126480" y="1005840"/>
            <a:ext cx="5668920" cy="1737000"/>
          </a:xfrm>
          <a:prstGeom prst="rect">
            <a:avLst/>
          </a:prstGeom>
          <a:solidFill>
            <a:srgbClr val="f7f8fa"/>
          </a:solidFill>
          <a:ln w="1524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0" name="TextBox 11"/>
          <p:cNvSpPr/>
          <p:nvPr/>
        </p:nvSpPr>
        <p:spPr>
          <a:xfrm>
            <a:off x="6236280" y="1094760"/>
            <a:ext cx="5449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Issuer responsibilities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12"/>
          <p:cNvSpPr/>
          <p:nvPr/>
        </p:nvSpPr>
        <p:spPr>
          <a:xfrm>
            <a:off x="6263640" y="1424880"/>
            <a:ext cx="539460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Configure credential scope to require proofs (Cryptographic binding required)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Register Attester's public key via Trusted Key IDP (for Part 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Link the IDP to the client (Trusted Key providers)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Rectangle 13"/>
          <p:cNvSpPr/>
          <p:nvPr/>
        </p:nvSpPr>
        <p:spPr>
          <a:xfrm>
            <a:off x="6126480" y="2853000"/>
            <a:ext cx="5668920" cy="1737000"/>
          </a:xfrm>
          <a:prstGeom prst="rect">
            <a:avLst/>
          </a:prstGeom>
          <a:solidFill>
            <a:srgbClr val="f7f8fa"/>
          </a:solidFill>
          <a:ln w="1524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TextBox 14"/>
          <p:cNvSpPr/>
          <p:nvPr/>
        </p:nvSpPr>
        <p:spPr>
          <a:xfrm>
            <a:off x="6236280" y="2941920"/>
            <a:ext cx="5449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b82d4"/>
                </a:solidFill>
                <a:latin typeface="Calibri"/>
              </a:rPr>
              <a:t>Relevant specifications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15"/>
          <p:cNvSpPr/>
          <p:nvPr/>
        </p:nvSpPr>
        <p:spPr>
          <a:xfrm>
            <a:off x="6263640" y="3272040"/>
            <a:ext cx="53946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OID4VCI spec — §8.2 Proof Types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SD-JWT draft — §4.3 Key Binding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SD-JWT VC draft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Keycloak docs — OID4VCI proofs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Rectangle 16"/>
          <p:cNvSpPr/>
          <p:nvPr/>
        </p:nvSpPr>
        <p:spPr>
          <a:xfrm>
            <a:off x="365760" y="4736520"/>
            <a:ext cx="11429640" cy="658080"/>
          </a:xfrm>
          <a:prstGeom prst="rect">
            <a:avLst/>
          </a:prstGeom>
          <a:solidFill>
            <a:srgbClr val="ecfdf5"/>
          </a:solidFill>
          <a:ln w="317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6" name="TextBox 17"/>
          <p:cNvSpPr/>
          <p:nvPr/>
        </p:nvSpPr>
        <p:spPr>
          <a:xfrm>
            <a:off x="502920" y="4812840"/>
            <a:ext cx="111553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328"/>
                </a:solidFill>
                <a:latin typeface="Calibri"/>
              </a:rPr>
              <a:t>Bottom line: Use no proof only for low-assurance or legacy scenarios. Use JWT proof for standard holder-binding. Add attestation when the Issuer needs to trust the security properties of the Wallet's key storage (e.g. regulated sectors, high-assurance identity).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2026-09-02T14:38:06Z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